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489272-9f69-d935-effb-711a2f4fb5d4}">
          <p14:sldIdLst>
            <p14:sldId id="256"/>
            <p14:sldId id="257"/>
            <p14:sldId id="258"/>
          </p14:sldIdLst>
        </p14:section>
        <p14:section name="Design" id="{fd89d150-46f0-79f4-92d8-ccd3629c0fb9}">
          <p14:sldIdLst>
            <p14:sldId id="259"/>
            <p14:sldId id="260"/>
            <p14:sldId id="261"/>
          </p14:sldIdLst>
        </p14:section>
        <p14:section name="Features" id="{49d178b4-3efc-ae78-7469-79ac06e362c6}">
          <p14:sldIdLst>
            <p14:sldId id="262"/>
            <p14:sldId id="263"/>
            <p14:sldId id="264"/>
            <p14:sldId id="265"/>
            <p14:sldId id="266"/>
          </p14:sldIdLst>
        </p14:section>
        <p14:section name="Results" id="{fa2a65f3-952b-00f5-46bc-e06f9b484a80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NEXORA  ·  Amrita Vishwa Vidyapeetham  ·  22AIE458 Mobile Application Development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mrita logo" descr="Amrita Vishwa Vidyapeetham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017520" cy="10287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74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NEXORA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88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</a:rPr>
              <a:t>Campus Placement Recruitment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101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AB0C4"/>
                </a:solidFill>
              </a:rPr>
              <a:t>Explainable eligibility · match scoring · readiness analytics · Career Action Engine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86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22AIE458 — Mobile Application Development  ·  Amrita Vishwa Vidyapeetham</a:t>
            </a:r>
            <a:endParaRPr lang="en-US" sz="1500" dirty="0"/>
          </a:p>
        </p:txBody>
      </p:sp>
      <p:sp>
        <p:nvSpPr>
          <p:cNvPr id="7" name="person 1"/>
          <p:cNvSpPr/>
          <p:nvPr/>
        </p:nvSpPr>
        <p:spPr>
          <a:xfrm>
            <a:off x="548640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2B3157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828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0C4"/>
                </a:solidFill>
              </a:rPr>
              <a:t>Student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Mandala Ruthik Reddy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394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AM.SC.U4AIE23129</a:t>
            </a:r>
            <a:endParaRPr lang="en-US" sz="1200" dirty="0"/>
          </a:p>
        </p:txBody>
      </p:sp>
      <p:sp>
        <p:nvSpPr>
          <p:cNvPr id="11" name="person 2"/>
          <p:cNvSpPr/>
          <p:nvPr/>
        </p:nvSpPr>
        <p:spPr>
          <a:xfrm>
            <a:off x="3154680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2B3157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4828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0C4"/>
                </a:solidFill>
              </a:rPr>
              <a:t>Student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Hasthi Naresh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5394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AM.SC.U4AIE23113</a:t>
            </a:r>
            <a:endParaRPr lang="en-US" sz="1200" dirty="0"/>
          </a:p>
        </p:txBody>
      </p:sp>
      <p:sp>
        <p:nvSpPr>
          <p:cNvPr id="15" name="person 3"/>
          <p:cNvSpPr/>
          <p:nvPr/>
        </p:nvSpPr>
        <p:spPr>
          <a:xfrm>
            <a:off x="5760720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2B3157"/>
          </a:solidFill>
          <a:ln w="12700">
            <a:solidFill>
              <a:srgbClr val="3A41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4828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0C4"/>
                </a:solidFill>
              </a:rPr>
              <a:t>Guide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Rahul Varma U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5394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Faculty Guide</a:t>
            </a:r>
            <a:endParaRPr lang="en-US" sz="1200" dirty="0"/>
          </a:p>
        </p:txBody>
      </p:sp>
      <p:pic>
        <p:nvPicPr>
          <p:cNvPr id="19" name="home screenshot" descr="NEXORA student hom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502920"/>
            <a:ext cx="263347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 and motivation</a:t>
            </a:r>
            <a:endParaRPr lang="en-US" sz="3200" dirty="0"/>
          </a:p>
        </p:txBody>
      </p:sp>
      <p:sp>
        <p:nvSpPr>
          <p:cNvPr id="3" name="pain 1 circle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4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49733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075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Eligibility is opaque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73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Students cannot tell which drives they qualify for, or why they are rejected.</a:t>
            </a:r>
            <a:endParaRPr lang="en-US" sz="1400" dirty="0"/>
          </a:p>
        </p:txBody>
      </p:sp>
      <p:sp>
        <p:nvSpPr>
          <p:cNvPr id="7" name="pain 2 circle"/>
          <p:cNvSpPr/>
          <p:nvPr/>
        </p:nvSpPr>
        <p:spPr>
          <a:xfrm>
            <a:off x="548640" y="2532888"/>
            <a:ext cx="685800" cy="68580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8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704338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514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Self-reported data is untrustworthy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880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Freely editable CGPA and backlogs make any client-side check meaningless.</a:t>
            </a:r>
            <a:endParaRPr lang="en-US" sz="1400" dirty="0"/>
          </a:p>
        </p:txBody>
      </p:sp>
      <p:sp>
        <p:nvSpPr>
          <p:cNvPr id="11" name="pain 3 circle"/>
          <p:cNvSpPr/>
          <p:nvPr/>
        </p:nvSpPr>
        <p:spPr>
          <a:xfrm>
            <a:off x="548640" y="3739896"/>
            <a:ext cx="685800" cy="68580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12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911346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216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Deadlines and rounds are missed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40873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Updates are scattered across notice boards, spreadsheets and chat groups.</a:t>
            </a:r>
            <a:endParaRPr lang="en-US" sz="1400" dirty="0"/>
          </a:p>
        </p:txBody>
      </p:sp>
      <p:sp>
        <p:nvSpPr>
          <p:cNvPr id="15" name="pain 4 circle"/>
          <p:cNvSpPr/>
          <p:nvPr/>
        </p:nvSpPr>
        <p:spPr>
          <a:xfrm>
            <a:off x="548640" y="4946904"/>
            <a:ext cx="685800" cy="68580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16" name="pai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118354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9286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guidance on preparation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529437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Students don't know what to practise; officers lack an overview of progress.</a:t>
            </a:r>
            <a:endParaRPr lang="en-US" sz="1400" dirty="0"/>
          </a:p>
        </p:txBody>
      </p:sp>
      <p:sp>
        <p:nvSpPr>
          <p:cNvPr id="19" name="motivation card"/>
          <p:cNvSpPr/>
          <p:nvPr/>
        </p:nvSpPr>
        <p:spPr>
          <a:xfrm>
            <a:off x="7498080" y="132588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E0E3FF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20" name="motivation circle"/>
          <p:cNvSpPr/>
          <p:nvPr/>
        </p:nvSpPr>
        <p:spPr>
          <a:xfrm>
            <a:off x="7818120" y="1645920"/>
            <a:ext cx="640080" cy="64008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21" name="motivatio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18059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81812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Motivation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7818120" y="288036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app in which eligibility is explained criterion by criterion, trust-critical rules are enforced on the server, and every student always sees a concrete next step — while the placement office gets verified data and live analytics.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 and 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Role-based student and placement-officer portals in one APK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Explain eligibility for every criterion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Rank drives with a transparent, documented match score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Track preparation with a readiness score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Connect everything through a Career Action Engine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Enforce roles, verification and outcomes on the server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Work offline and stay on the free Firebase Spark plan</a:t>
            </a:r>
            <a:endParaRPr lang="en-US" sz="1600" dirty="0"/>
          </a:p>
        </p:txBody>
      </p:sp>
      <p:sp>
        <p:nvSpPr>
          <p:cNvPr id="5" name="pillar Explainable"/>
          <p:cNvSpPr/>
          <p:nvPr/>
        </p:nvSpPr>
        <p:spPr>
          <a:xfrm>
            <a:off x="6492240" y="1234440"/>
            <a:ext cx="5120640" cy="1444752"/>
          </a:xfrm>
          <a:prstGeom prst="roundRect">
            <a:avLst>
              <a:gd name="adj" fmla="val 506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6" name="pillar Explainable circle"/>
          <p:cNvSpPr/>
          <p:nvPr/>
        </p:nvSpPr>
        <p:spPr>
          <a:xfrm>
            <a:off x="6720840" y="1600200"/>
            <a:ext cx="685800" cy="68580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7" name="pillar Explainab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2290" y="177165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35240" y="13990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76479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Per-criterion eligibility with reasons; match = 0.60·S + 0.25·P + 0.15·R with matched and missing skills.</a:t>
            </a:r>
            <a:endParaRPr lang="en-US" sz="1300" dirty="0"/>
          </a:p>
        </p:txBody>
      </p:sp>
      <p:sp>
        <p:nvSpPr>
          <p:cNvPr id="10" name="pillar Trusted"/>
          <p:cNvSpPr/>
          <p:nvPr/>
        </p:nvSpPr>
        <p:spPr>
          <a:xfrm>
            <a:off x="6492240" y="2862072"/>
            <a:ext cx="5120640" cy="1444752"/>
          </a:xfrm>
          <a:prstGeom prst="roundRect">
            <a:avLst>
              <a:gd name="adj" fmla="val 506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1" name="pillar Trusted circle"/>
          <p:cNvSpPr/>
          <p:nvPr/>
        </p:nvSpPr>
        <p:spPr>
          <a:xfrm>
            <a:off x="6720840" y="3227832"/>
            <a:ext cx="685800" cy="68580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12" name="pillar Trust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3399282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302666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Trusted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339242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Officer-verified academic records; Firestore Security Rules re-check eligibility, deadlines, duplicates and outcomes.</a:t>
            </a:r>
            <a:endParaRPr lang="en-US" sz="1300" dirty="0"/>
          </a:p>
        </p:txBody>
      </p:sp>
      <p:sp>
        <p:nvSpPr>
          <p:cNvPr id="15" name="pillar Guided"/>
          <p:cNvSpPr/>
          <p:nvPr/>
        </p:nvSpPr>
        <p:spPr>
          <a:xfrm>
            <a:off x="6492240" y="4489704"/>
            <a:ext cx="5120640" cy="1444752"/>
          </a:xfrm>
          <a:prstGeom prst="roundRect">
            <a:avLst>
              <a:gd name="adj" fmla="val 506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6" name="pillar Guided circle"/>
          <p:cNvSpPr/>
          <p:nvPr/>
        </p:nvSpPr>
        <p:spPr>
          <a:xfrm>
            <a:off x="6720840" y="4855464"/>
            <a:ext cx="685800" cy="685800"/>
          </a:xfrm>
          <a:prstGeom prst="ellipse">
            <a:avLst/>
          </a:prstGeom>
          <a:solidFill>
            <a:srgbClr val="0E8F72"/>
          </a:solidFill>
          <a:ln w="12700">
            <a:solidFill>
              <a:srgbClr val="0E8F72"/>
            </a:solidFill>
            <a:prstDash val="solid"/>
          </a:ln>
        </p:spPr>
      </p:sp>
      <p:pic>
        <p:nvPicPr>
          <p:cNvPr id="17" name="pillar Guide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290" y="5026914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35240" y="465429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Guided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635240" y="502005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Readiness dashboard and a ranked Career Action Plan linking preparation to real drives and rounds.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stack Java 17 + XML"/>
          <p:cNvSpPr/>
          <p:nvPr/>
        </p:nvSpPr>
        <p:spPr>
          <a:xfrm>
            <a:off x="548640" y="1325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4" name="stack Java 17 + XML circle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5" name="stack Java 17 + XM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Java 17 + XML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15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Android Studio · Gradle 9.4.1 · minSdk 26, target SDK 36</a:t>
            </a:r>
            <a:endParaRPr lang="en-US" sz="1300" dirty="0"/>
          </a:p>
        </p:txBody>
      </p:sp>
      <p:sp>
        <p:nvSpPr>
          <p:cNvPr id="8" name="stack Material Components"/>
          <p:cNvSpPr/>
          <p:nvPr/>
        </p:nvSpPr>
        <p:spPr>
          <a:xfrm>
            <a:off x="3355848" y="1325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9" name="stack Material Components circle"/>
          <p:cNvSpPr/>
          <p:nvPr/>
        </p:nvSpPr>
        <p:spPr>
          <a:xfrm>
            <a:off x="3584448" y="1554480"/>
            <a:ext cx="640080" cy="640080"/>
          </a:xfrm>
          <a:prstGeom prst="ellipse">
            <a:avLst/>
          </a:prstGeom>
          <a:solidFill>
            <a:srgbClr val="0E8F72"/>
          </a:solidFill>
          <a:ln w="12700">
            <a:solidFill>
              <a:srgbClr val="0E8F72"/>
            </a:solidFill>
            <a:prstDash val="solid"/>
          </a:ln>
        </p:spPr>
      </p:sp>
      <p:pic>
        <p:nvPicPr>
          <p:cNvPr id="10" name="stack Material Componen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4448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Material Components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715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Version 1.14 · Material 3 theme, light and dark</a:t>
            </a:r>
            <a:endParaRPr lang="en-US" sz="1300" dirty="0"/>
          </a:p>
        </p:txBody>
      </p:sp>
      <p:sp>
        <p:nvSpPr>
          <p:cNvPr id="13" name="stack MVVM + Repository"/>
          <p:cNvSpPr/>
          <p:nvPr/>
        </p:nvSpPr>
        <p:spPr>
          <a:xfrm>
            <a:off x="6163056" y="1325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4" name="stack MVVM + Repository circle"/>
          <p:cNvSpPr/>
          <p:nvPr/>
        </p:nvSpPr>
        <p:spPr>
          <a:xfrm>
            <a:off x="6391656" y="1554480"/>
            <a:ext cx="640080" cy="640080"/>
          </a:xfrm>
          <a:prstGeom prst="ellipse">
            <a:avLst/>
          </a:prstGeom>
          <a:solidFill>
            <a:srgbClr val="6A4FB3"/>
          </a:solidFill>
          <a:ln w="12700">
            <a:solidFill>
              <a:srgbClr val="6A4FB3"/>
            </a:solidFill>
            <a:prstDash val="solid"/>
          </a:ln>
        </p:spPr>
      </p:sp>
      <p:pic>
        <p:nvPicPr>
          <p:cNvPr id="15" name="stack MVVM + Repositor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7145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1656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MVVM + Repository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715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ViewModel and LiveData (Lifecycle 2.10), manual DI container</a:t>
            </a:r>
            <a:endParaRPr lang="en-US" sz="1300" dirty="0"/>
          </a:p>
        </p:txBody>
      </p:sp>
      <p:sp>
        <p:nvSpPr>
          <p:cNvPr id="18" name="stack Firebase Authentication"/>
          <p:cNvSpPr/>
          <p:nvPr/>
        </p:nvSpPr>
        <p:spPr>
          <a:xfrm>
            <a:off x="8970264" y="1325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9" name="stack Firebase Authentication circle"/>
          <p:cNvSpPr/>
          <p:nvPr/>
        </p:nvSpPr>
        <p:spPr>
          <a:xfrm>
            <a:off x="9198864" y="1554480"/>
            <a:ext cx="640080" cy="64008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20" name="stack Firebase Authenticat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17145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98864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Firebase Authentication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2715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Email and password; Emulator Suite in debug</a:t>
            </a:r>
            <a:endParaRPr lang="en-US" sz="1300" dirty="0"/>
          </a:p>
        </p:txBody>
      </p:sp>
      <p:sp>
        <p:nvSpPr>
          <p:cNvPr id="23" name="stack Cloud Firestore"/>
          <p:cNvSpPr/>
          <p:nvPr/>
        </p:nvSpPr>
        <p:spPr>
          <a:xfrm>
            <a:off x="548640" y="3749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24" name="stack Cloud Firestore circle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25" name="stack Cloud Firestor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1376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 Firestore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138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7 collections, Security Rules, offline persistence</a:t>
            </a:r>
            <a:endParaRPr lang="en-US" sz="1300" dirty="0"/>
          </a:p>
        </p:txBody>
      </p:sp>
      <p:sp>
        <p:nvSpPr>
          <p:cNvPr id="28" name="stack Room 2.8.5"/>
          <p:cNvSpPr/>
          <p:nvPr/>
        </p:nvSpPr>
        <p:spPr>
          <a:xfrm>
            <a:off x="3355848" y="3749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29" name="stack Room 2.8.5 circle"/>
          <p:cNvSpPr/>
          <p:nvPr/>
        </p:nvSpPr>
        <p:spPr>
          <a:xfrm>
            <a:off x="3584448" y="3977640"/>
            <a:ext cx="640080" cy="640080"/>
          </a:xfrm>
          <a:prstGeom prst="ellipse">
            <a:avLst/>
          </a:prstGeom>
          <a:solidFill>
            <a:srgbClr val="0E8F72"/>
          </a:solidFill>
          <a:ln w="12700">
            <a:solidFill>
              <a:srgbClr val="0E8F72"/>
            </a:solidFill>
            <a:prstDash val="solid"/>
          </a:ln>
        </p:spPr>
      </p:sp>
      <p:pic>
        <p:nvPicPr>
          <p:cNvPr id="30" name="stack Room 2.8.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13766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84448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Room 2.8.5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584448" y="5138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Bookmarks, activity log and offline cache</a:t>
            </a:r>
            <a:endParaRPr lang="en-US" sz="1300" dirty="0"/>
          </a:p>
        </p:txBody>
      </p:sp>
      <p:sp>
        <p:nvSpPr>
          <p:cNvPr id="33" name="stack WorkManager 2.11"/>
          <p:cNvSpPr/>
          <p:nvPr/>
        </p:nvSpPr>
        <p:spPr>
          <a:xfrm>
            <a:off x="6163056" y="3749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34" name="stack WorkManager 2.11 circle"/>
          <p:cNvSpPr/>
          <p:nvPr/>
        </p:nvSpPr>
        <p:spPr>
          <a:xfrm>
            <a:off x="6391656" y="3977640"/>
            <a:ext cx="640080" cy="640080"/>
          </a:xfrm>
          <a:prstGeom prst="ellipse">
            <a:avLst/>
          </a:prstGeom>
          <a:solidFill>
            <a:srgbClr val="6A4FB3"/>
          </a:solidFill>
          <a:ln w="12700">
            <a:solidFill>
              <a:srgbClr val="6A4FB3"/>
            </a:solidFill>
            <a:prstDash val="solid"/>
          </a:ln>
        </p:spPr>
      </p:sp>
      <p:pic>
        <p:nvPicPr>
          <p:cNvPr id="35" name="stack WorkManager 2.11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13766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391656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WorkManager 2.11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391656" y="5138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Background sync and local notifications</a:t>
            </a:r>
            <a:endParaRPr lang="en-US" sz="1300" dirty="0"/>
          </a:p>
        </p:txBody>
      </p:sp>
      <p:sp>
        <p:nvSpPr>
          <p:cNvPr id="38" name="stack Testing"/>
          <p:cNvSpPr/>
          <p:nvPr/>
        </p:nvSpPr>
        <p:spPr>
          <a:xfrm>
            <a:off x="8970264" y="3749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39" name="stack Testing circle"/>
          <p:cNvSpPr/>
          <p:nvPr/>
        </p:nvSpPr>
        <p:spPr>
          <a:xfrm>
            <a:off x="9198864" y="3977640"/>
            <a:ext cx="640080" cy="64008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pic>
        <p:nvPicPr>
          <p:cNvPr id="40" name="stack Testing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4137660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198864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Testing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198864" y="5138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JUnit 4, JaCoCo, Espresso, rules-unit-testing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pic>
        <p:nvPicPr>
          <p:cNvPr id="3" name="architecture diagram" descr="MVVM + Repository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147304" cy="5029200"/>
          </a:xfrm>
          <a:prstGeom prst="rect">
            <a:avLst/>
          </a:prstGeom>
        </p:spPr>
      </p:pic>
      <p:sp>
        <p:nvSpPr>
          <p:cNvPr id="4" name="arch Pure-Java domain circle"/>
          <p:cNvSpPr/>
          <p:nvPr/>
        </p:nvSpPr>
        <p:spPr>
          <a:xfrm>
            <a:off x="8823960" y="1325880"/>
            <a:ext cx="548640" cy="54864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5" name="arch Pure-Java domai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463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509760" y="1325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Pure-Java domain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9509760" y="1691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Engines import no Android or Firebase classes, so 64 unit tests run on the JVM.</a:t>
            </a:r>
            <a:endParaRPr lang="en-US" sz="1300" dirty="0"/>
          </a:p>
        </p:txBody>
      </p:sp>
      <p:sp>
        <p:nvSpPr>
          <p:cNvPr id="8" name="arch Reactive ViewModels circle"/>
          <p:cNvSpPr/>
          <p:nvPr/>
        </p:nvSpPr>
        <p:spPr>
          <a:xfrm>
            <a:off x="8823960" y="2926080"/>
            <a:ext cx="548640" cy="54864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9" name="arch Reactive ViewModel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0632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09760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Reactive ViewModels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950976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derived result is recomputed whenever any input LiveData changes.</a:t>
            </a:r>
            <a:endParaRPr lang="en-US" sz="1300" dirty="0"/>
          </a:p>
        </p:txBody>
      </p:sp>
      <p:sp>
        <p:nvSpPr>
          <p:cNvPr id="12" name="arch Repositories circle"/>
          <p:cNvSpPr/>
          <p:nvPr/>
        </p:nvSpPr>
        <p:spPr>
          <a:xfrm>
            <a:off x="8823960" y="4526280"/>
            <a:ext cx="548640" cy="54864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13" name="arch Repositori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466344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09760" y="4526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Repositories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9509760" y="4892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Hide Firestore and Room; snapshot listeners detach automatically when screens stop.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Implemented modules and components</a:t>
            </a:r>
            <a:endParaRPr lang="en-US" sz="3200" dirty="0"/>
          </a:p>
        </p:txBody>
      </p:sp>
      <p:sp>
        <p:nvSpPr>
          <p:cNvPr id="3" name="module EligibilityEngine"/>
          <p:cNvSpPr/>
          <p:nvPr/>
        </p:nvSpPr>
        <p:spPr>
          <a:xfrm>
            <a:off x="548640" y="128016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4" name="module dot EligibilityEngine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3898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EligibilityEngine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CGPA, branch, backlogs, graduation year → PASS / FAIL / UNKNOWN with explanations</a:t>
            </a:r>
            <a:endParaRPr lang="en-US" sz="1300" dirty="0"/>
          </a:p>
        </p:txBody>
      </p:sp>
      <p:sp>
        <p:nvSpPr>
          <p:cNvPr id="7" name="module MatchScoreCalculator"/>
          <p:cNvSpPr/>
          <p:nvPr/>
        </p:nvSpPr>
        <p:spPr>
          <a:xfrm>
            <a:off x="6172200" y="128016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8" name="module dot MatchScoreCalculator"/>
          <p:cNvSpPr/>
          <p:nvPr/>
        </p:nvSpPr>
        <p:spPr>
          <a:xfrm>
            <a:off x="6400800" y="1609344"/>
            <a:ext cx="365760" cy="36576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3898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MatchScoreCalculator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737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Weighted skills, role-preference and readiness score with reasons and bands</a:t>
            </a:r>
            <a:endParaRPr lang="en-US" sz="1300" dirty="0"/>
          </a:p>
        </p:txBody>
      </p:sp>
      <p:sp>
        <p:nvSpPr>
          <p:cNvPr id="11" name="module ReadinessAnalyzer"/>
          <p:cNvSpPr/>
          <p:nvPr/>
        </p:nvSpPr>
        <p:spPr>
          <a:xfrm>
            <a:off x="548640" y="246888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2" name="module dot ReadinessAnalyzer"/>
          <p:cNvSpPr/>
          <p:nvPr/>
        </p:nvSpPr>
        <p:spPr>
          <a:xfrm>
            <a:off x="777240" y="2798064"/>
            <a:ext cx="365760" cy="365760"/>
          </a:xfrm>
          <a:prstGeom prst="ellipse">
            <a:avLst/>
          </a:prstGeom>
          <a:solidFill>
            <a:srgbClr val="0E8F72"/>
          </a:solidFill>
          <a:ln w="12700">
            <a:solidFill>
              <a:srgbClr val="0E8F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25786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ReadinessAnalyzer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26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Five weighted components over 30 days, weekly trend, suggestions</a:t>
            </a:r>
            <a:endParaRPr lang="en-US" sz="1300" dirty="0"/>
          </a:p>
        </p:txBody>
      </p:sp>
      <p:sp>
        <p:nvSpPr>
          <p:cNvPr id="15" name="module CareerActionEngine"/>
          <p:cNvSpPr/>
          <p:nvPr/>
        </p:nvSpPr>
        <p:spPr>
          <a:xfrm>
            <a:off x="6172200" y="246888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6" name="module dot CareerActionEngine"/>
          <p:cNvSpPr/>
          <p:nvPr/>
        </p:nvSpPr>
        <p:spPr>
          <a:xfrm>
            <a:off x="6400800" y="2798064"/>
            <a:ext cx="365760" cy="365760"/>
          </a:xfrm>
          <a:prstGeom prst="ellipse">
            <a:avLst/>
          </a:prstGeom>
          <a:solidFill>
            <a:srgbClr val="B50246"/>
          </a:solidFill>
          <a:ln w="12700">
            <a:solidFill>
              <a:srgbClr val="B50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5786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CareerActionEngine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926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Ranked, explained next steps built from the other engines' results</a:t>
            </a:r>
            <a:endParaRPr lang="en-US" sz="1300" dirty="0"/>
          </a:p>
        </p:txBody>
      </p:sp>
      <p:sp>
        <p:nvSpPr>
          <p:cNvPr id="19" name="module ApplicationWorkflow"/>
          <p:cNvSpPr/>
          <p:nvPr/>
        </p:nvSpPr>
        <p:spPr>
          <a:xfrm>
            <a:off x="548640" y="36576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20" name="module dot ApplicationWorkflow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6A4FB3"/>
          </a:solidFill>
          <a:ln w="12700">
            <a:solidFill>
              <a:srgbClr val="6A4F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3767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ApplicationWorkflow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114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Apply decision; advance and reject transitions; immutable final states</a:t>
            </a:r>
            <a:endParaRPr lang="en-US" sz="1300" dirty="0"/>
          </a:p>
        </p:txBody>
      </p:sp>
      <p:sp>
        <p:nvSpPr>
          <p:cNvPr id="23" name="module Analytics"/>
          <p:cNvSpPr/>
          <p:nvPr/>
        </p:nvSpPr>
        <p:spPr>
          <a:xfrm>
            <a:off x="6172200" y="36576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24" name="module dot Analytics"/>
          <p:cNvSpPr/>
          <p:nvPr/>
        </p:nvSpPr>
        <p:spPr>
          <a:xfrm>
            <a:off x="6400800" y="3986784"/>
            <a:ext cx="365760" cy="365760"/>
          </a:xfrm>
          <a:prstGeom prst="ellipse">
            <a:avLst/>
          </a:prstGeom>
          <a:solidFill>
            <a:srgbClr val="6A4FB3"/>
          </a:solidFill>
          <a:ln w="12700">
            <a:solidFill>
              <a:srgbClr val="6A4F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3767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Analytics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114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Dashboard, funnel, branch selections, preparation insights (aggregate only)</a:t>
            </a:r>
            <a:endParaRPr lang="en-US" sz="1300" dirty="0"/>
          </a:p>
        </p:txBody>
      </p:sp>
      <p:sp>
        <p:nvSpPr>
          <p:cNvPr id="27" name="module Repositories"/>
          <p:cNvSpPr/>
          <p:nvPr/>
        </p:nvSpPr>
        <p:spPr>
          <a:xfrm>
            <a:off x="548640" y="484632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28" name="module dot Repositories"/>
          <p:cNvSpPr/>
          <p:nvPr/>
        </p:nvSpPr>
        <p:spPr>
          <a:xfrm>
            <a:off x="777240" y="5175504"/>
            <a:ext cx="365760" cy="36576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25880" y="49560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Repositories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3035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Auth, Placement, Readiness — Firestore and Room behind LiveData</a:t>
            </a:r>
            <a:endParaRPr lang="en-US" sz="1300" dirty="0"/>
          </a:p>
        </p:txBody>
      </p:sp>
      <p:sp>
        <p:nvSpPr>
          <p:cNvPr id="31" name="module SyncWorker + Room"/>
          <p:cNvSpPr/>
          <p:nvPr/>
        </p:nvSpPr>
        <p:spPr>
          <a:xfrm>
            <a:off x="6172200" y="484632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32" name="module dot SyncWorker + Room"/>
          <p:cNvSpPr/>
          <p:nvPr/>
        </p:nvSpPr>
        <p:spPr>
          <a:xfrm>
            <a:off x="6400800" y="5175504"/>
            <a:ext cx="365760" cy="36576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0" y="49560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SyncWorker + Room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3035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Idempotent activity upload, notification fetch, offline cache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28 Java source files (~6,500 lines) · 22 XML layouts · 7 Firestore collections · 4 Room tables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Student portal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754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Onboarding, registration (always STUDENT), login, password reset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Home: readiness ring, Career Action Plan, eligible and closing-soon drives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Drives: search, quick filters, filter and sort sheet, bookmarks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Drive detail: explainable eligibility and match; Apply with reason when blocked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Applications and recruitment journey timeline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Readiness dashboard with activity logging (works offline)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Profile: academic record locked after verification</a:t>
            </a:r>
            <a:endParaRPr lang="en-US" sz="1500" dirty="0"/>
          </a:p>
        </p:txBody>
      </p:sp>
      <p:pic>
        <p:nvPicPr>
          <p:cNvPr id="4" name="student Home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1892808" cy="4206240"/>
          </a:xfrm>
          <a:prstGeom prst="rect">
            <a:avLst/>
          </a:prstGeom>
        </p:spPr>
      </p:pic>
      <p:sp>
        <p:nvSpPr>
          <p:cNvPr id="5" name="student Home frame"/>
          <p:cNvSpPr/>
          <p:nvPr/>
        </p:nvSpPr>
        <p:spPr>
          <a:xfrm>
            <a:off x="5650992" y="1216152"/>
            <a:ext cx="1929384" cy="4242816"/>
          </a:xfrm>
          <a:prstGeom prst="roundRect">
            <a:avLst>
              <a:gd name="adj" fmla="val 2844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5513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Home</a:t>
            </a:r>
            <a:endParaRPr lang="en-US" sz="1100" dirty="0"/>
          </a:p>
        </p:txBody>
      </p:sp>
      <p:pic>
        <p:nvPicPr>
          <p:cNvPr id="7" name="student Explainable eligibility" descr="Explainable eligi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234440"/>
            <a:ext cx="1892808" cy="4206240"/>
          </a:xfrm>
          <a:prstGeom prst="rect">
            <a:avLst/>
          </a:prstGeom>
        </p:spPr>
      </p:pic>
      <p:sp>
        <p:nvSpPr>
          <p:cNvPr id="8" name="student Explainable eligibility frame"/>
          <p:cNvSpPr/>
          <p:nvPr/>
        </p:nvSpPr>
        <p:spPr>
          <a:xfrm>
            <a:off x="7708392" y="1216152"/>
            <a:ext cx="1929384" cy="4242816"/>
          </a:xfrm>
          <a:prstGeom prst="roundRect">
            <a:avLst>
              <a:gd name="adj" fmla="val 2844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98080" y="5513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Explainable eligibility</a:t>
            </a:r>
            <a:endParaRPr lang="en-US" sz="1100" dirty="0"/>
          </a:p>
        </p:txBody>
      </p:sp>
      <p:pic>
        <p:nvPicPr>
          <p:cNvPr id="10" name="student Readiness" descr="Readin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234440"/>
            <a:ext cx="1892808" cy="4206240"/>
          </a:xfrm>
          <a:prstGeom prst="rect">
            <a:avLst/>
          </a:prstGeom>
        </p:spPr>
      </p:pic>
      <p:sp>
        <p:nvSpPr>
          <p:cNvPr id="11" name="student Readiness frame"/>
          <p:cNvSpPr/>
          <p:nvPr/>
        </p:nvSpPr>
        <p:spPr>
          <a:xfrm>
            <a:off x="9765792" y="1216152"/>
            <a:ext cx="1929384" cy="4242816"/>
          </a:xfrm>
          <a:prstGeom prst="roundRect">
            <a:avLst>
              <a:gd name="adj" fmla="val 2844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55480" y="5513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Readiness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Placement officer portal</a:t>
            </a:r>
            <a:endParaRPr lang="en-US" sz="3200" dirty="0"/>
          </a:p>
        </p:txBody>
      </p:sp>
      <p:pic>
        <p:nvPicPr>
          <p:cNvPr id="3" name="officer Dashboard" descr="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1892808" cy="4206240"/>
          </a:xfrm>
          <a:prstGeom prst="rect">
            <a:avLst/>
          </a:prstGeom>
        </p:spPr>
      </p:pic>
      <p:sp>
        <p:nvSpPr>
          <p:cNvPr id="4" name="officer Dashboard frame"/>
          <p:cNvSpPr/>
          <p:nvPr/>
        </p:nvSpPr>
        <p:spPr>
          <a:xfrm>
            <a:off x="758952" y="1216152"/>
            <a:ext cx="1929384" cy="4242816"/>
          </a:xfrm>
          <a:prstGeom prst="roundRect">
            <a:avLst>
              <a:gd name="adj" fmla="val 2844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513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Dashboard</a:t>
            </a:r>
            <a:endParaRPr lang="en-US" sz="1100" dirty="0"/>
          </a:p>
        </p:txBody>
      </p:sp>
      <p:pic>
        <p:nvPicPr>
          <p:cNvPr id="6" name="officer Advance / reject" descr="Advance / re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234440"/>
            <a:ext cx="1892808" cy="4206240"/>
          </a:xfrm>
          <a:prstGeom prst="rect">
            <a:avLst/>
          </a:prstGeom>
        </p:spPr>
      </p:pic>
      <p:sp>
        <p:nvSpPr>
          <p:cNvPr id="7" name="officer Advance / reject frame"/>
          <p:cNvSpPr/>
          <p:nvPr/>
        </p:nvSpPr>
        <p:spPr>
          <a:xfrm>
            <a:off x="2816352" y="1216152"/>
            <a:ext cx="1929384" cy="4242816"/>
          </a:xfrm>
          <a:prstGeom prst="roundRect">
            <a:avLst>
              <a:gd name="adj" fmla="val 2844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606040" y="5513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Advance / reject</a:t>
            </a:r>
            <a:endParaRPr lang="en-US" sz="1100" dirty="0"/>
          </a:p>
        </p:txBody>
      </p:sp>
      <p:pic>
        <p:nvPicPr>
          <p:cNvPr id="9" name="officer Insights" descr="Insigh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34440"/>
            <a:ext cx="1892808" cy="4206240"/>
          </a:xfrm>
          <a:prstGeom prst="rect">
            <a:avLst/>
          </a:prstGeom>
        </p:spPr>
      </p:pic>
      <p:sp>
        <p:nvSpPr>
          <p:cNvPr id="10" name="officer Insights frame"/>
          <p:cNvSpPr/>
          <p:nvPr/>
        </p:nvSpPr>
        <p:spPr>
          <a:xfrm>
            <a:off x="4873752" y="1216152"/>
            <a:ext cx="1929384" cy="4242816"/>
          </a:xfrm>
          <a:prstGeom prst="roundRect">
            <a:avLst>
              <a:gd name="adj" fmla="val 2844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663440" y="5513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Insights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6903720" y="1325880"/>
            <a:ext cx="4754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Separate role-based navigation; officer accounts provisioned only by the admin seed script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Verification queue: verify complete records or un-verify for correction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Companies and drives: criteria, skills, prep focus, deadline, ordered stages; draft, publish, close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Applicants: filter, review snapshot and links, advance or reject with notes (batched with a notification)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Announcements and analytics: per-drive counts, funnel, branch selections, readiness and preparation insights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Career Action Engine and feature integration</a:t>
            </a:r>
            <a:endParaRPr lang="en-US" sz="3200" dirty="0"/>
          </a:p>
        </p:txBody>
      </p:sp>
      <p:sp>
        <p:nvSpPr>
          <p:cNvPr id="3" name="flow Student profile"/>
          <p:cNvSpPr/>
          <p:nvPr/>
        </p:nvSpPr>
        <p:spPr>
          <a:xfrm>
            <a:off x="548640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3B4B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Student profile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verified data</a:t>
            </a:r>
            <a:endParaRPr lang="en-US" sz="1000" dirty="0"/>
          </a:p>
        </p:txBody>
      </p:sp>
      <p:sp>
        <p:nvSpPr>
          <p:cNvPr id="6" name="flow arrow 0"/>
          <p:cNvSpPr/>
          <p:nvPr/>
        </p:nvSpPr>
        <p:spPr>
          <a:xfrm>
            <a:off x="1527048" y="1874520"/>
            <a:ext cx="128016" cy="0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7" name="flow Eligibility"/>
          <p:cNvSpPr/>
          <p:nvPr/>
        </p:nvSpPr>
        <p:spPr>
          <a:xfrm>
            <a:off x="1664208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9A5B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9928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Eligibility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09928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per criterion</a:t>
            </a:r>
            <a:endParaRPr lang="en-US" sz="1000" dirty="0"/>
          </a:p>
        </p:txBody>
      </p:sp>
      <p:sp>
        <p:nvSpPr>
          <p:cNvPr id="10" name="flow arrow 1"/>
          <p:cNvSpPr/>
          <p:nvPr/>
        </p:nvSpPr>
        <p:spPr>
          <a:xfrm>
            <a:off x="2642616" y="1874520"/>
            <a:ext cx="128016" cy="0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11" name="flow Ranking"/>
          <p:cNvSpPr/>
          <p:nvPr/>
        </p:nvSpPr>
        <p:spPr>
          <a:xfrm>
            <a:off x="2779776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9A5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25496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Ranking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25496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match score</a:t>
            </a:r>
            <a:endParaRPr lang="en-US" sz="1000" dirty="0"/>
          </a:p>
        </p:txBody>
      </p:sp>
      <p:sp>
        <p:nvSpPr>
          <p:cNvPr id="14" name="flow arrow 2"/>
          <p:cNvSpPr/>
          <p:nvPr/>
        </p:nvSpPr>
        <p:spPr>
          <a:xfrm>
            <a:off x="3758184" y="1874520"/>
            <a:ext cx="128016" cy="0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15" name="flow Action plan"/>
          <p:cNvSpPr/>
          <p:nvPr/>
        </p:nvSpPr>
        <p:spPr>
          <a:xfrm>
            <a:off x="3895344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B502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41064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Action plan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41064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18" name="flow arrow 3"/>
          <p:cNvSpPr/>
          <p:nvPr/>
        </p:nvSpPr>
        <p:spPr>
          <a:xfrm>
            <a:off x="4873752" y="1874520"/>
            <a:ext cx="128016" cy="0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19" name="flow Preparation"/>
          <p:cNvSpPr/>
          <p:nvPr/>
        </p:nvSpPr>
        <p:spPr>
          <a:xfrm>
            <a:off x="5010912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0E8F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56632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Preparation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56632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readiness</a:t>
            </a:r>
            <a:endParaRPr lang="en-US" sz="1000" dirty="0"/>
          </a:p>
        </p:txBody>
      </p:sp>
      <p:sp>
        <p:nvSpPr>
          <p:cNvPr id="22" name="flow arrow 4"/>
          <p:cNvSpPr/>
          <p:nvPr/>
        </p:nvSpPr>
        <p:spPr>
          <a:xfrm>
            <a:off x="5989320" y="1874520"/>
            <a:ext cx="128016" cy="0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23" name="flow Journey"/>
          <p:cNvSpPr/>
          <p:nvPr/>
        </p:nvSpPr>
        <p:spPr>
          <a:xfrm>
            <a:off x="6126480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6A4F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Journey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stages</a:t>
            </a:r>
            <a:endParaRPr lang="en-US" sz="1000" dirty="0"/>
          </a:p>
        </p:txBody>
      </p:sp>
      <p:sp>
        <p:nvSpPr>
          <p:cNvPr id="26" name="flow arrow 5"/>
          <p:cNvSpPr/>
          <p:nvPr/>
        </p:nvSpPr>
        <p:spPr>
          <a:xfrm>
            <a:off x="7104888" y="1874520"/>
            <a:ext cx="128016" cy="0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27" name="flow Officer analytics"/>
          <p:cNvSpPr/>
          <p:nvPr/>
        </p:nvSpPr>
        <p:spPr>
          <a:xfrm>
            <a:off x="7242048" y="1280160"/>
            <a:ext cx="969264" cy="1188720"/>
          </a:xfrm>
          <a:prstGeom prst="roundRect">
            <a:avLst>
              <a:gd name="adj" fmla="val 7547"/>
            </a:avLst>
          </a:prstGeom>
          <a:solidFill>
            <a:srgbClr val="F3F4FA"/>
          </a:solidFill>
          <a:ln w="19050">
            <a:solidFill>
              <a:srgbClr val="555B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87768" y="137160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Officer analytics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87768" y="19659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insights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Feedback loop: a new activity, drive, verification or stage change recomputes the plan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Ranking rules</a:t>
            </a:r>
            <a:endParaRPr lang="en-US" sz="1600" dirty="0"/>
          </a:p>
        </p:txBody>
      </p:sp>
      <p:graphicFrame>
        <p:nvGraphicFramePr>
          <p:cNvPr id="10" name="rank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7772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Rule (higher ranks first)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VERIFY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1000 — record unverified or incomplete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Profile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900 − 10 × days to a scheduled round (≤ 14 days)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Journey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APPLY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800 − hours / 6 if ≤ 3 days, else 500 + match − days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Drive detail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SKILL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300 + 10 × eligible drives needing the skill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Readiness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READINESS / PROFILE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200 + (60 − weakest %) · 150 if resume &lt; 100%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40"/>
                          </a:solidFill>
                        </a:rPr>
                        <a:t>Readiness / Profile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3" name="next steps" descr="Your next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188720"/>
            <a:ext cx="2139696" cy="4754880"/>
          </a:xfrm>
          <a:prstGeom prst="rect">
            <a:avLst/>
          </a:prstGeom>
        </p:spPr>
      </p:pic>
      <p:sp>
        <p:nvSpPr>
          <p:cNvPr id="34" name="next steps frame"/>
          <p:cNvSpPr/>
          <p:nvPr/>
        </p:nvSpPr>
        <p:spPr>
          <a:xfrm>
            <a:off x="8897112" y="1170432"/>
            <a:ext cx="2176272" cy="4791456"/>
          </a:xfrm>
          <a:prstGeom prst="roundRect">
            <a:avLst>
              <a:gd name="adj" fmla="val 2521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686800" y="601675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Your next steps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Application workflow and navigation</a:t>
            </a:r>
            <a:endParaRPr lang="en-US" sz="3200" dirty="0"/>
          </a:p>
        </p:txBody>
      </p:sp>
      <p:pic>
        <p:nvPicPr>
          <p:cNvPr id="3" name="navigation diagram" descr="Screen navigation diagram for both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186806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154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Application status</a:t>
            </a:r>
            <a:endParaRPr lang="en-US" sz="1600" dirty="0"/>
          </a:p>
        </p:txBody>
      </p:sp>
      <p:sp>
        <p:nvSpPr>
          <p:cNvPr id="5" name="status SUBMITTED"/>
          <p:cNvSpPr/>
          <p:nvPr/>
        </p:nvSpPr>
        <p:spPr>
          <a:xfrm>
            <a:off x="8915400" y="164592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4FA"/>
          </a:solidFill>
          <a:ln w="19050">
            <a:solidFill>
              <a:srgbClr val="3B4B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52560" y="1700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BDB"/>
                </a:solidFill>
              </a:rPr>
              <a:t>SUBMITTED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stage 0</a:t>
            </a:r>
            <a:endParaRPr lang="en-US" sz="1100" dirty="0"/>
          </a:p>
        </p:txBody>
      </p:sp>
      <p:sp>
        <p:nvSpPr>
          <p:cNvPr id="8" name="status arrow 0"/>
          <p:cNvSpPr/>
          <p:nvPr/>
        </p:nvSpPr>
        <p:spPr>
          <a:xfrm>
            <a:off x="10287000" y="2221992"/>
            <a:ext cx="0" cy="192024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9" name="status IN_PROGRESS"/>
          <p:cNvSpPr/>
          <p:nvPr/>
        </p:nvSpPr>
        <p:spPr>
          <a:xfrm>
            <a:off x="8915400" y="242316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4FA"/>
          </a:solidFill>
          <a:ln w="19050">
            <a:solidFill>
              <a:srgbClr val="0E8F7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52560" y="2478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72"/>
                </a:solidFill>
              </a:rPr>
              <a:t>IN_PROGRESS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one stage per update</a:t>
            </a:r>
            <a:endParaRPr lang="en-US" sz="1100" dirty="0"/>
          </a:p>
        </p:txBody>
      </p:sp>
      <p:sp>
        <p:nvSpPr>
          <p:cNvPr id="12" name="status arrow 1"/>
          <p:cNvSpPr/>
          <p:nvPr/>
        </p:nvSpPr>
        <p:spPr>
          <a:xfrm>
            <a:off x="10287000" y="2999232"/>
            <a:ext cx="0" cy="192024"/>
          </a:xfrm>
          <a:prstGeom prst="line">
            <a:avLst/>
          </a:prstGeom>
          <a:noFill/>
          <a:ln w="15875">
            <a:solidFill>
              <a:srgbClr val="1E2340"/>
            </a:solidFill>
            <a:prstDash val="solid"/>
            <a:tailEnd type="triangle"/>
          </a:ln>
        </p:spPr>
      </p:sp>
      <p:sp>
        <p:nvSpPr>
          <p:cNvPr id="13" name="status SELECTED"/>
          <p:cNvSpPr/>
          <p:nvPr/>
        </p:nvSpPr>
        <p:spPr>
          <a:xfrm>
            <a:off x="8915400" y="320040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4FA"/>
          </a:solidFill>
          <a:ln w="19050">
            <a:solidFill>
              <a:srgbClr val="9A5B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52560" y="32552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5B00"/>
                </a:solidFill>
              </a:rPr>
              <a:t>SELECTED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final</a:t>
            </a:r>
            <a:endParaRPr lang="en-US" sz="1100" dirty="0"/>
          </a:p>
        </p:txBody>
      </p:sp>
      <p:sp>
        <p:nvSpPr>
          <p:cNvPr id="16" name="status REJECTED"/>
          <p:cNvSpPr/>
          <p:nvPr/>
        </p:nvSpPr>
        <p:spPr>
          <a:xfrm>
            <a:off x="8915400" y="39776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4FA"/>
          </a:solidFill>
          <a:ln w="19050">
            <a:solidFill>
              <a:srgbClr val="B502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52560" y="4032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50246"/>
                </a:solidFill>
              </a:rPr>
              <a:t>REJECTED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4279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final, from any active stage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4709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 {driveId}_{uid}: a second apply is rejected by the server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decision updates the application and notifies the student in one batch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Application screenshots</a:t>
            </a:r>
            <a:endParaRPr lang="en-US" sz="3200" dirty="0"/>
          </a:p>
        </p:txBody>
      </p:sp>
      <p:pic>
        <p:nvPicPr>
          <p:cNvPr id="3" name="shot Match score breakdown" descr="Match score break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2036826" cy="4526280"/>
          </a:xfrm>
          <a:prstGeom prst="rect">
            <a:avLst/>
          </a:prstGeom>
        </p:spPr>
      </p:pic>
      <p:sp>
        <p:nvSpPr>
          <p:cNvPr id="4" name="shot Match score breakdown frame"/>
          <p:cNvSpPr/>
          <p:nvPr/>
        </p:nvSpPr>
        <p:spPr>
          <a:xfrm>
            <a:off x="850392" y="1170432"/>
            <a:ext cx="2073402" cy="4562856"/>
          </a:xfrm>
          <a:prstGeom prst="roundRect">
            <a:avLst>
              <a:gd name="adj" fmla="val 2646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5788152"/>
            <a:ext cx="2494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Match score breakdown</a:t>
            </a:r>
            <a:endParaRPr lang="en-US" sz="1100" dirty="0"/>
          </a:p>
        </p:txBody>
      </p:sp>
      <p:pic>
        <p:nvPicPr>
          <p:cNvPr id="6" name="shot Not eligible: 6.99 vs 7.00" descr="Not eligible: 6.99 vs 7.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188720"/>
            <a:ext cx="2036826" cy="4526280"/>
          </a:xfrm>
          <a:prstGeom prst="rect">
            <a:avLst/>
          </a:prstGeom>
        </p:spPr>
      </p:pic>
      <p:sp>
        <p:nvSpPr>
          <p:cNvPr id="7" name="shot Not eligible: 6.99 vs 7.00 frame"/>
          <p:cNvSpPr/>
          <p:nvPr/>
        </p:nvSpPr>
        <p:spPr>
          <a:xfrm>
            <a:off x="3026664" y="1170432"/>
            <a:ext cx="2073402" cy="4562856"/>
          </a:xfrm>
          <a:prstGeom prst="roundRect">
            <a:avLst>
              <a:gd name="adj" fmla="val 2646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816352" y="5788152"/>
            <a:ext cx="2494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Not eligible: 6.99 vs 7.00</a:t>
            </a:r>
            <a:endParaRPr lang="en-US" sz="1100" dirty="0"/>
          </a:p>
        </p:txBody>
      </p:sp>
      <p:pic>
        <p:nvPicPr>
          <p:cNvPr id="9" name="shot Recruitment journey" descr="Recruitment journ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1188720"/>
            <a:ext cx="2036826" cy="4526280"/>
          </a:xfrm>
          <a:prstGeom prst="rect">
            <a:avLst/>
          </a:prstGeom>
        </p:spPr>
      </p:pic>
      <p:sp>
        <p:nvSpPr>
          <p:cNvPr id="10" name="shot Recruitment journey frame"/>
          <p:cNvSpPr/>
          <p:nvPr/>
        </p:nvSpPr>
        <p:spPr>
          <a:xfrm>
            <a:off x="5202936" y="1170432"/>
            <a:ext cx="2073402" cy="4562856"/>
          </a:xfrm>
          <a:prstGeom prst="roundRect">
            <a:avLst>
              <a:gd name="adj" fmla="val 2646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992624" y="5788152"/>
            <a:ext cx="2494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Recruitment journey</a:t>
            </a:r>
            <a:endParaRPr lang="en-US" sz="1100" dirty="0"/>
          </a:p>
        </p:txBody>
      </p:sp>
      <p:pic>
        <p:nvPicPr>
          <p:cNvPr id="12" name="shot Officer verification" descr="Officer verif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188720"/>
            <a:ext cx="2036826" cy="4526280"/>
          </a:xfrm>
          <a:prstGeom prst="rect">
            <a:avLst/>
          </a:prstGeom>
        </p:spPr>
      </p:pic>
      <p:sp>
        <p:nvSpPr>
          <p:cNvPr id="13" name="shot Officer verification frame"/>
          <p:cNvSpPr/>
          <p:nvPr/>
        </p:nvSpPr>
        <p:spPr>
          <a:xfrm>
            <a:off x="7379208" y="1170432"/>
            <a:ext cx="2073402" cy="4562856"/>
          </a:xfrm>
          <a:prstGeom prst="roundRect">
            <a:avLst>
              <a:gd name="adj" fmla="val 2646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168896" y="5788152"/>
            <a:ext cx="2494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Officer verification</a:t>
            </a:r>
            <a:endParaRPr lang="en-US" sz="1100" dirty="0"/>
          </a:p>
        </p:txBody>
      </p:sp>
      <p:pic>
        <p:nvPicPr>
          <p:cNvPr id="15" name="shot Drive stage schedules" descr="Drive stage schedu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3768" y="1188720"/>
            <a:ext cx="2036826" cy="4526280"/>
          </a:xfrm>
          <a:prstGeom prst="rect">
            <a:avLst/>
          </a:prstGeom>
        </p:spPr>
      </p:pic>
      <p:sp>
        <p:nvSpPr>
          <p:cNvPr id="16" name="shot Drive stage schedules frame"/>
          <p:cNvSpPr/>
          <p:nvPr/>
        </p:nvSpPr>
        <p:spPr>
          <a:xfrm>
            <a:off x="9555480" y="1170432"/>
            <a:ext cx="2073402" cy="4562856"/>
          </a:xfrm>
          <a:prstGeom prst="roundRect">
            <a:avLst>
              <a:gd name="adj" fmla="val 2646"/>
            </a:avLst>
          </a:prstGeom>
          <a:ln w="12700">
            <a:solidFill>
              <a:srgbClr val="C5C9D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345168" y="5788152"/>
            <a:ext cx="2494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Drive stage schedules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and results</a:t>
            </a:r>
            <a:endParaRPr lang="en-US" sz="3200" dirty="0"/>
          </a:p>
        </p:txBody>
      </p:sp>
      <p:sp>
        <p:nvSpPr>
          <p:cNvPr id="3" name="stat JVM unit tests passed"/>
          <p:cNvSpPr/>
          <p:nvPr/>
        </p:nvSpPr>
        <p:spPr>
          <a:xfrm>
            <a:off x="54864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B4BDB"/>
                </a:solidFill>
              </a:rPr>
              <a:t>64 / 64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JVM unit tests passed</a:t>
            </a:r>
            <a:endParaRPr lang="en-US" sz="1400" dirty="0"/>
          </a:p>
        </p:txBody>
      </p:sp>
      <p:sp>
        <p:nvSpPr>
          <p:cNvPr id="6" name="stat domain line coverage (JaCoCo)"/>
          <p:cNvSpPr/>
          <p:nvPr/>
        </p:nvSpPr>
        <p:spPr>
          <a:xfrm>
            <a:off x="3355848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8F72"/>
                </a:solidFill>
              </a:rPr>
              <a:t>99.2%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domain line coverage (JaCoCo)</a:t>
            </a:r>
            <a:endParaRPr lang="en-US" sz="1400" dirty="0"/>
          </a:p>
        </p:txBody>
      </p:sp>
      <p:sp>
        <p:nvSpPr>
          <p:cNvPr id="9" name="stat Firestore Security Rules tests"/>
          <p:cNvSpPr/>
          <p:nvPr/>
        </p:nvSpPr>
        <p:spPr>
          <a:xfrm>
            <a:off x="6163056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50246"/>
                </a:solidFill>
              </a:rPr>
              <a:t>47 / 47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Firestore Security Rules tests</a:t>
            </a:r>
            <a:endParaRPr lang="en-US" sz="1400" dirty="0"/>
          </a:p>
        </p:txBody>
      </p:sp>
      <p:sp>
        <p:nvSpPr>
          <p:cNvPr id="12" name="stat instrumented tests passed"/>
          <p:cNvSpPr/>
          <p:nvPr/>
        </p:nvSpPr>
        <p:spPr>
          <a:xfrm>
            <a:off x="8970264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53144" y="1417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A4FB3"/>
                </a:solidFill>
              </a:rPr>
              <a:t>6 / 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53144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instrumented tests passed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Automated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Eligibility boundaries: 7.00 vs 7.00 passes, 6.99 fails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Match weights, aliases, bands; readiness formulas and windows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Career Action Engine: ineligible, applied, closed and expired drives excluded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Rules: role escalation, verification lock, duplicates, deadlines, outcomes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Room DAO, Espresso onboarding, field validation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337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Manual (emulator + Firebase Emulator Suite)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74904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Login errors and role-based routing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Verification unlocks eligibility; officer-created drive reaches students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Application accepted, duplicate blocked, advance updates timeline + notification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Offline activity synced exactly once after reconnecting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Analytics and insights match hand-calculated seed values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28016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0E3FF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4" name="conclusion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3B4BDB"/>
          </a:solidFill>
          <a:ln w="12700">
            <a:solidFill>
              <a:srgbClr val="3B4BDB"/>
            </a:solidFill>
            <a:prstDash val="solid"/>
          </a:ln>
        </p:spPr>
      </p:sp>
      <p:pic>
        <p:nvPicPr>
          <p:cNvPr id="5" name="conclus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Complete student and officer placement workflow in Java and XML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Explainability with server-side trust: students see why; the rules decide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Career Action Engine links eligibility, ranking, readiness and the journey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Tested domain logic, offline support, free Firebase Spark plan</a:t>
            </a:r>
            <a:endParaRPr lang="en-US" sz="1700" dirty="0"/>
          </a:p>
        </p:txBody>
      </p:sp>
      <p:sp>
        <p:nvSpPr>
          <p:cNvPr id="8" name="future card"/>
          <p:cNvSpPr/>
          <p:nvPr/>
        </p:nvSpPr>
        <p:spPr>
          <a:xfrm>
            <a:off x="6263640" y="128016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3F4FA"/>
          </a:solidFill>
          <a:ln w="9525">
            <a:solidFill>
              <a:srgbClr val="E2E4EE"/>
            </a:solidFill>
            <a:prstDash val="solid"/>
          </a:ln>
        </p:spPr>
      </p:sp>
      <p:sp>
        <p:nvSpPr>
          <p:cNvPr id="9" name="future circle"/>
          <p:cNvSpPr/>
          <p:nvPr/>
        </p:nvSpPr>
        <p:spPr>
          <a:xfrm>
            <a:off x="6537960" y="1554480"/>
            <a:ext cx="640080" cy="640080"/>
          </a:xfrm>
          <a:prstGeom prst="ellipse">
            <a:avLst/>
          </a:prstGeom>
          <a:solidFill>
            <a:srgbClr val="0E8F72"/>
          </a:solidFill>
          <a:ln w="12700">
            <a:solidFill>
              <a:srgbClr val="0E8F72"/>
            </a:solidFill>
            <a:prstDash val="solid"/>
          </a:ln>
        </p:spPr>
      </p:sp>
      <p:pic>
        <p:nvPicPr>
          <p:cNvPr id="10" name="futu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6642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Officer-configurable match weights and readiness targets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Instant push through a trusted server (paid plan)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Resume upload, parsing and verified skill assessments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Automated end-to-end UI journeys and a usability study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Calendar integration and a web dashboard for officers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 Android Developers — Guide to app architecture: developer.android.com/topic/architecture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 Android Developers — ViewModel and LiveData: developer.android.com/topic/libraries/architecture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 Android Developers — Room: developer.android.com/training/data-storage/room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[4]  Android Developers — WorkManager: developer.android.com/topic/libraries/architecture/workmanager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[5]  Android Developers — Espresso: developer.android.com/training/testing/espresso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[6]  Material Design 3: m3.material.io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[7]  Material Components for Android: github.com/material-components/material-components-android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2588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[8]  Firebase Authentication (Android): firebase.google.com/docs/auth/android/start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[9]  Cloud Firestore: firebase.google.com/docs/firestore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[10]  Firestore Security Rules: firebase.google.com/docs/firestore/security/get-started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[11]  Firebase Emulator Suite: firebase.google.com/docs/emulator-suite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[12]  Security Rules unit tests: firebase.google.com/docs/rules/unit-tests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[13]  JUnit 4: junit.org/junit4 · JaCoCo: jacoco.org/jacoco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[14]  Amrita Vishwa Vidyapeetham (official logo): amrita.edu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ORA">
  <a:themeElements>
    <a:clrScheme name="NEXORA">
      <a:dk1>
        <a:srgbClr val="1E2340"/>
      </a:dk1>
      <a:lt1>
        <a:srgbClr val="FFFFFF"/>
      </a:lt1>
      <a:dk2>
        <a:srgbClr val="2A36A8"/>
      </a:dk2>
      <a:lt2>
        <a:srgbClr val="F3F4FA"/>
      </a:lt2>
      <a:accent1>
        <a:srgbClr val="3B4BDB"/>
      </a:accent1>
      <a:accent2>
        <a:srgbClr val="0E8F72"/>
      </a:accent2>
      <a:accent3>
        <a:srgbClr val="B50246"/>
      </a:accent3>
      <a:accent4>
        <a:srgbClr val="9A5B00"/>
      </a:accent4>
      <a:accent5>
        <a:srgbClr val="6A4FB3"/>
      </a:accent5>
      <a:accent6>
        <a:srgbClr val="555B70"/>
      </a:accent6>
      <a:hlink>
        <a:srgbClr val="3B4BDB"/>
      </a:hlink>
      <a:folHlink>
        <a:srgbClr val="6A4FB3"/>
      </a:folHlink>
    </a:clrScheme>
    <a:fontScheme name="NEXOR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NEXORA — Campus Placement Recruitment System</dc:title>
  <dc:subject>22AIE458 Mobile Application Development — project presentation</dc:subject>
  <dc:creator>Mandala Ruthik Reddy, Hasthi Naresh</dc:creator>
  <cp:lastModifiedBy>Mandala Ruthik Reddy, Hasthi Naresh</cp:lastModifiedBy>
  <cp:revision>1</cp:revision>
  <dcterms:created xsi:type="dcterms:W3CDTF">2026-10-26T06:18:25Z</dcterms:created>
  <dcterms:modified xsi:type="dcterms:W3CDTF">2026-10-26T06:18:25Z</dcterms:modified>
</cp:coreProperties>
</file>